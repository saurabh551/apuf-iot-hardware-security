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17" r:id="rId1"/>
  </p:sldMasterIdLst>
  <p:sldIdLst>
    <p:sldId id="256" r:id="rId2"/>
    <p:sldId id="257" r:id="rId3"/>
    <p:sldId id="258" r:id="rId4"/>
    <p:sldId id="259" r:id="rId5"/>
    <p:sldId id="278" r:id="rId6"/>
    <p:sldId id="277" r:id="rId7"/>
    <p:sldId id="260" r:id="rId8"/>
    <p:sldId id="274" r:id="rId9"/>
    <p:sldId id="261" r:id="rId10"/>
    <p:sldId id="262" r:id="rId11"/>
    <p:sldId id="263" r:id="rId12"/>
    <p:sldId id="276" r:id="rId13"/>
    <p:sldId id="264" r:id="rId14"/>
    <p:sldId id="275" r:id="rId15"/>
    <p:sldId id="265" r:id="rId16"/>
    <p:sldId id="266" r:id="rId17"/>
    <p:sldId id="267" r:id="rId18"/>
    <p:sldId id="268" r:id="rId19"/>
    <p:sldId id="269" r:id="rId20"/>
    <p:sldId id="282" r:id="rId21"/>
    <p:sldId id="270" r:id="rId22"/>
    <p:sldId id="281" r:id="rId23"/>
    <p:sldId id="271" r:id="rId24"/>
    <p:sldId id="279" r:id="rId25"/>
    <p:sldId id="272" r:id="rId26"/>
    <p:sldId id="280" r:id="rId27"/>
    <p:sldId id="273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23F311-F911-4150-9026-4444204E66DF}">
          <p14:sldIdLst>
            <p14:sldId id="256"/>
            <p14:sldId id="257"/>
            <p14:sldId id="258"/>
            <p14:sldId id="259"/>
          </p14:sldIdLst>
        </p14:section>
        <p14:section name="Untitled Section" id="{0A39B2E6-46FD-46CD-8029-33BD8690B81E}">
          <p14:sldIdLst>
            <p14:sldId id="278"/>
            <p14:sldId id="277"/>
            <p14:sldId id="260"/>
            <p14:sldId id="274"/>
            <p14:sldId id="261"/>
            <p14:sldId id="262"/>
            <p14:sldId id="263"/>
            <p14:sldId id="276"/>
            <p14:sldId id="264"/>
            <p14:sldId id="275"/>
            <p14:sldId id="265"/>
            <p14:sldId id="266"/>
            <p14:sldId id="267"/>
            <p14:sldId id="268"/>
            <p14:sldId id="269"/>
            <p14:sldId id="282"/>
            <p14:sldId id="270"/>
            <p14:sldId id="281"/>
            <p14:sldId id="271"/>
            <p14:sldId id="279"/>
            <p14:sldId id="272"/>
            <p14:sldId id="280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472293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49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1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54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0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8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7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9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9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82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90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88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61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44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01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0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52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1" r:id="rId4"/>
    <p:sldLayoutId id="2147484222" r:id="rId5"/>
    <p:sldLayoutId id="2147484223" r:id="rId6"/>
    <p:sldLayoutId id="2147484224" r:id="rId7"/>
    <p:sldLayoutId id="2147484225" r:id="rId8"/>
    <p:sldLayoutId id="2147484226" r:id="rId9"/>
    <p:sldLayoutId id="2147484227" r:id="rId10"/>
    <p:sldLayoutId id="2147484228" r:id="rId11"/>
    <p:sldLayoutId id="2147484229" r:id="rId12"/>
    <p:sldLayoutId id="2147484230" r:id="rId13"/>
    <p:sldLayoutId id="2147484231" r:id="rId14"/>
    <p:sldLayoutId id="2147484232" r:id="rId15"/>
    <p:sldLayoutId id="2147484233" r:id="rId16"/>
    <p:sldLayoutId id="214748423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373627"/>
            <a:ext cx="7704667" cy="20647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Arbiter PUF Based Mutual Authentication and Session Key Agreement Scheme for IoT</a:t>
            </a:r>
            <a:endParaRPr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sz="1584"/>
            </a:pPr>
            <a:endParaRPr dirty="0"/>
          </a:p>
          <a:p>
            <a:pPr marL="0" indent="0" algn="ctr">
              <a:buNone/>
              <a:defRPr sz="1584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</a:t>
            </a:r>
            <a:r>
              <a:rPr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  <a:defRPr sz="1584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Saurabh Soni</a:t>
            </a:r>
          </a:p>
          <a:p>
            <a:pPr marL="0" indent="0" algn="ctr">
              <a:buNone/>
              <a:defRPr sz="1584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MTech CSE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  <a:defRPr sz="1584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24CS4131</a:t>
            </a:r>
          </a:p>
          <a:p>
            <a:pPr algn="ctr">
              <a:defRPr sz="1584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  <a:defRPr sz="1584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marL="0" indent="0" algn="ctr">
              <a:buNone/>
              <a:defRPr sz="1584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Subhas Chandra Sahana</a:t>
            </a:r>
          </a:p>
          <a:p>
            <a:pPr marL="0" indent="0" algn="ctr">
              <a:buNone/>
              <a:defRPr sz="1584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 marL="0" indent="0" algn="ctr">
              <a:buNone/>
              <a:defRPr sz="1584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Technology Durgapur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D6B84E-69B6-3D88-46CC-A70F33D60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2667000"/>
            <a:ext cx="3431458" cy="3332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02773"/>
          </a:xfrm>
        </p:spPr>
        <p:txBody>
          <a:bodyPr>
            <a:normAutofit/>
          </a:bodyPr>
          <a:lstStyle/>
          <a:p>
            <a:r>
              <a:rPr sz="4400" b="1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17290"/>
            <a:ext cx="7704667" cy="3598607"/>
          </a:xfrm>
        </p:spPr>
        <p:txBody>
          <a:bodyPr>
            <a:norm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are rapidly increasing in modern applications.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authentication relies on stored secret keys.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keys are vulnerable to attacks and cloning.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Lightweight hardware-based security is required.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PUFs provide unique hardware fingerprints.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584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:</a:t>
            </a:r>
          </a:p>
          <a:p>
            <a:pPr>
              <a:defRPr sz="1584"/>
            </a:pPr>
            <a:r>
              <a:rPr dirty="0"/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 keys stored in memory can be extracted.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Software-based authentication is vulnerable.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authenticate only one device.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session key establishment is challenging.</a:t>
            </a:r>
          </a:p>
          <a:p>
            <a:pPr>
              <a:defRPr sz="1584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 hardware-based mutual authentication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Arbiter PUF systems support only single-device authentication.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lightweight IoT security systems lack secure communication.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PUF-based methods do not support dynamic session key generation.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exists in mutual authentication and encrypted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9411EB-BFFC-DB22-3DA1-ECFA6AFF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848032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  <a:cs typeface="Times New Roman" panose="02020603050405020304" pitchFamily="18" charset="0"/>
              </a:rPr>
              <a:t>Existing  </a:t>
            </a:r>
            <a:r>
              <a:rPr lang="en-US" b="1" dirty="0">
                <a:latin typeface="Algerian" panose="04020705040A02060702" pitchFamily="82" charset="0"/>
              </a:rPr>
              <a:t>APUF RESULT 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C49895-DF1A-2CA1-FECC-AE1AAAAEA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              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DD5AA4-5A36-2B08-CCE0-108C12EDF86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241343" y="1750143"/>
            <a:ext cx="7515225" cy="377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1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85186A-4602-7487-22AC-F513B3C0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  <a:cs typeface="Times New Roman" panose="02020603050405020304" pitchFamily="18" charset="0"/>
              </a:rPr>
              <a:t>Existing PUF-Based Authentication Schemes</a:t>
            </a:r>
            <a:endParaRPr lang="en-IN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3C99EB7-91ED-6B7B-4A35-4BA99AB7B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941992"/>
              </p:ext>
            </p:extLst>
          </p:nvPr>
        </p:nvGraphicFramePr>
        <p:xfrm>
          <a:off x="1731264" y="2595719"/>
          <a:ext cx="5495446" cy="3871455"/>
        </p:xfrm>
        <a:graphic>
          <a:graphicData uri="http://schemas.openxmlformats.org/drawingml/2006/table">
            <a:tbl>
              <a:tblPr/>
              <a:tblGrid>
                <a:gridCol w="1056278">
                  <a:extLst>
                    <a:ext uri="{9D8B030D-6E8A-4147-A177-3AD203B41FA5}">
                      <a16:colId xmlns:a16="http://schemas.microsoft.com/office/drawing/2014/main" val="1709372402"/>
                    </a:ext>
                  </a:extLst>
                </a:gridCol>
                <a:gridCol w="1109792">
                  <a:extLst>
                    <a:ext uri="{9D8B030D-6E8A-4147-A177-3AD203B41FA5}">
                      <a16:colId xmlns:a16="http://schemas.microsoft.com/office/drawing/2014/main" val="2694284613"/>
                    </a:ext>
                  </a:extLst>
                </a:gridCol>
                <a:gridCol w="1109792">
                  <a:extLst>
                    <a:ext uri="{9D8B030D-6E8A-4147-A177-3AD203B41FA5}">
                      <a16:colId xmlns:a16="http://schemas.microsoft.com/office/drawing/2014/main" val="2323424523"/>
                    </a:ext>
                  </a:extLst>
                </a:gridCol>
                <a:gridCol w="1109792">
                  <a:extLst>
                    <a:ext uri="{9D8B030D-6E8A-4147-A177-3AD203B41FA5}">
                      <a16:colId xmlns:a16="http://schemas.microsoft.com/office/drawing/2014/main" val="1434393258"/>
                    </a:ext>
                  </a:extLst>
                </a:gridCol>
                <a:gridCol w="1109792">
                  <a:extLst>
                    <a:ext uri="{9D8B030D-6E8A-4147-A177-3AD203B41FA5}">
                      <a16:colId xmlns:a16="http://schemas.microsoft.com/office/drawing/2014/main" val="32972442"/>
                    </a:ext>
                  </a:extLst>
                </a:gridCol>
              </a:tblGrid>
              <a:tr h="60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Mutual 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892403"/>
                  </a:ext>
                </a:extLst>
              </a:tr>
              <a:tr h="859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LFSR-APUF (2023)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750773"/>
                  </a:ext>
                </a:extLst>
              </a:tr>
              <a:tr h="1117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PUF Key-Exchange (2023)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480938"/>
                  </a:ext>
                </a:extLst>
              </a:tr>
              <a:tr h="60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PA-PUF (2022)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785346"/>
                  </a:ext>
                </a:extLst>
              </a:tr>
              <a:tr h="4881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944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31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33947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9806"/>
            <a:ext cx="7704667" cy="4230010"/>
          </a:xfrm>
        </p:spPr>
        <p:txBody>
          <a:bodyPr>
            <a:norm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FPGA-based Arbiter PUF implementation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CRPs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Mutual authentication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Multi-challenge verification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Session key generation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AES-based secure communication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Replay attack protection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6A762-CB5E-FBC1-A58D-21B8B1D3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319548"/>
            <a:ext cx="7704667" cy="1342104"/>
          </a:xfrm>
        </p:spPr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Why PUF Instead of Classical Cryptography?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EE3B6-B75E-DB91-BEE0-B89B7EF33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2277" y="1759973"/>
            <a:ext cx="3456291" cy="785197"/>
          </a:xfrm>
        </p:spPr>
        <p:txBody>
          <a:bodyPr/>
          <a:lstStyle/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Classical Cryptography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D491E-B013-1288-90D7-D2586D76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3523" y="2349911"/>
            <a:ext cx="3672248" cy="418854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 keys are permanently stored in memory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keys are vulnerable to: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attacks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extraction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Cloning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Heavy cryptographic operations increase computational overhead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Resource-constrained IoT devices have limited power and memory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D62F68-09FE-D7AD-98BB-766AA26B8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61710" y="1640605"/>
            <a:ext cx="3467806" cy="1004272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APUF-Based Security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1F4CF-A1ED-4052-AA54-F8D09EED5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57266" y="2349911"/>
            <a:ext cx="3672248" cy="36506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permanent secret key storage required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Responses generated from intrinsic hardware variations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Extremely difficult to clone or duplicate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Lightweight and low-power implementation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session key generation improves security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secure IoT authentication application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634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627238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Physical Unclonable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84440"/>
            <a:ext cx="7704667" cy="3421626"/>
          </a:xfrm>
        </p:spPr>
        <p:txBody>
          <a:bodyPr>
            <a:normAutofit/>
          </a:bodyPr>
          <a:lstStyle/>
          <a:p>
            <a:pPr>
              <a:defRPr sz="1584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PUF acts as a hardware fingerprint.</a:t>
            </a:r>
          </a:p>
          <a:p>
            <a:pPr>
              <a:defRPr sz="1584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manufacturing variations.</a:t>
            </a:r>
          </a:p>
          <a:p>
            <a:pPr>
              <a:defRPr sz="1584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unique responses.</a:t>
            </a:r>
          </a:p>
          <a:p>
            <a:pPr>
              <a:defRPr sz="1584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permanent key storage required.</a:t>
            </a:r>
          </a:p>
          <a:p>
            <a:pPr>
              <a:defRPr sz="1584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lightweight IoT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Arbiter PUF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23768"/>
            <a:ext cx="7704667" cy="3876048"/>
          </a:xfrm>
        </p:spPr>
        <p:txBody>
          <a:bodyPr>
            <a:no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parallel signal paths are created.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bits control multiplexers.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Arbiter detects faster path.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path faster → Response = 1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 path faster → Response = 0</a:t>
            </a:r>
          </a:p>
          <a:p>
            <a:pPr>
              <a:defRPr sz="1584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Basys-3 FPGA | Artix-7 |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39097"/>
            <a:ext cx="7704667" cy="1514167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CRP Generation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51587"/>
            <a:ext cx="7704667" cy="3748228"/>
          </a:xfrm>
        </p:spPr>
        <p:txBody>
          <a:bodyPr>
            <a:norm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Input → APUF → Response Generation → UART Transmission → CSV Database</a:t>
            </a:r>
          </a:p>
          <a:p>
            <a:pPr>
              <a:defRPr sz="1584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CRPs are used for: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key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1B81C6-F189-228E-B0F7-1195517F8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1" y="471948"/>
            <a:ext cx="7787148" cy="554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5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22438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46787"/>
            <a:ext cx="7704667" cy="4454012"/>
          </a:xfrm>
        </p:spPr>
        <p:txBody>
          <a:bodyPr>
            <a:norm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IoT-A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Server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</a:t>
            </a:r>
          </a:p>
          <a:p>
            <a:pPr>
              <a:defRPr sz="1584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authentication</a:t>
            </a:r>
          </a:p>
          <a:p>
            <a:pPr marL="0" indent="0">
              <a:buNone/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key agreement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secure communication</a:t>
            </a:r>
          </a:p>
          <a:p>
            <a:pPr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Timestamp-based replay protection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FF6884C-151D-ABA3-246E-F420D749B9C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002890" y="344129"/>
            <a:ext cx="7865832" cy="628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97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71599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Mutual Authentication </a:t>
            </a:r>
            <a:r>
              <a:rPr lang="en-IN" b="1" dirty="0">
                <a:latin typeface="Algerian" panose="04020705040A02060702" pitchFamily="82" charset="0"/>
              </a:rPr>
              <a:t>Scheme</a:t>
            </a:r>
            <a:endParaRPr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53265"/>
            <a:ext cx="7704667" cy="3846551"/>
          </a:xfrm>
        </p:spPr>
        <p:txBody>
          <a:bodyPr>
            <a:norm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 : IoT-A → Server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 : Server → IoT-A (CA)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m3 : Server → IoT-B (CB)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m4 : IoT-A → Server (RA)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m5 : IoT-B → Server (RB)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m6 : Server → IoT-A (RB)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m7 : Server → IoT-B (RA)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646902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Authentication &amp; Session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41755"/>
            <a:ext cx="7704667" cy="4159044"/>
          </a:xfrm>
        </p:spPr>
        <p:txBody>
          <a:bodyPr>
            <a:no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random challenges generated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verification: Match ≥ 5/7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Key: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 = SHA256(RA || RB || Timestamp)</a:t>
            </a:r>
          </a:p>
          <a:p>
            <a:pPr>
              <a:defRPr sz="1584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session key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per session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permanent key storage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33947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Replay Attack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87794"/>
            <a:ext cx="7704667" cy="4112022"/>
          </a:xfrm>
        </p:spPr>
        <p:txBody>
          <a:bodyPr>
            <a:norm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 included during authentication.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validates session freshness.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Expired authentication requests are rejected.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replay attacks.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55289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Secure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91148"/>
            <a:ext cx="7704667" cy="4308668"/>
          </a:xfrm>
        </p:spPr>
        <p:txBody>
          <a:bodyPr>
            <a:norm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Text → AES Encryption → Socket Communication → AES Decryption</a:t>
            </a:r>
          </a:p>
          <a:p>
            <a:pPr marL="0" indent="0">
              <a:buNone/>
              <a:defRPr sz="1584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defRPr sz="1584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Message: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GGSfSEIHWMvliFtXCuX8eSSHNPdvbA6MXyibDfJYTTI=</a:t>
            </a:r>
          </a:p>
          <a:p>
            <a:pPr>
              <a:defRPr sz="1584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Decrypted Message: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from IoT-A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Experimental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AD837-5042-A687-FB6A-929734857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SINGLE APUF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584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Uniformity : 50.23%</a:t>
            </a:r>
          </a:p>
          <a:p>
            <a:pPr>
              <a:defRPr sz="1584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: 98.98%</a:t>
            </a:r>
          </a:p>
          <a:p>
            <a:pPr>
              <a:defRPr sz="1584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marL="0" indent="0">
              <a:buNone/>
              <a:defRPr sz="1584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reliability</a:t>
            </a:r>
          </a:p>
          <a:p>
            <a:pPr marL="0" indent="0">
              <a:buNone/>
              <a:defRPr sz="1584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Near-ideal uniformity</a:t>
            </a:r>
          </a:p>
          <a:p>
            <a:pPr marL="0" indent="0">
              <a:buNone/>
              <a:defRPr sz="1584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uniqueness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0497-72DC-BF73-D8D2-F550D7D8A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DOUBLE APUF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D2558-D751-73CB-96F2-C42FBD36F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552" y="3335336"/>
            <a:ext cx="3672248" cy="2665259"/>
          </a:xfrm>
        </p:spPr>
        <p:txBody>
          <a:bodyPr>
            <a:normAutofit fontScale="92500" lnSpcReduction="10000"/>
          </a:bodyPr>
          <a:lstStyle/>
          <a:p>
            <a:pPr>
              <a:defRPr sz="1584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Uniformity : 51.40/48.60</a:t>
            </a:r>
          </a:p>
          <a:p>
            <a:pPr>
              <a:defRPr sz="1584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: 92.61%</a:t>
            </a:r>
          </a:p>
          <a:p>
            <a:pPr>
              <a:defRPr sz="1584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 : 100%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EACA024-A24B-F472-A61D-2F04D0CCE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424" y="1553497"/>
            <a:ext cx="6940551" cy="45818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5D29EA31-3A26-F29E-951F-BF863F1D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86813"/>
            <a:ext cx="6351639" cy="1150374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Algerian" panose="04020705040A02060702" pitchFamily="82" charset="0"/>
              </a:rPr>
              <a:t>comparison</a:t>
            </a:r>
            <a:r>
              <a:rPr lang="en-IN" sz="24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   with APUF result                                                                                          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E80CF46-4865-31B1-1326-6414B6D03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553497"/>
            <a:ext cx="7704667" cy="44463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048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63444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FPGA Resource Utilization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20645"/>
            <a:ext cx="7704667" cy="4279171"/>
          </a:xfrm>
        </p:spPr>
        <p:txBody>
          <a:bodyPr>
            <a:normAutofit lnSpcReduction="10000"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LUTs : 102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MUXs : 127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Slices : 26</a:t>
            </a:r>
          </a:p>
          <a:p>
            <a:pPr>
              <a:defRPr sz="1584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marL="0" indent="0">
              <a:buNone/>
              <a:defRPr sz="1584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  <a:p>
            <a:pPr>
              <a:defRPr sz="1584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implementation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efficient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IoT devices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0E903-F643-2634-F2B5-A80663EBB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987" y="1877961"/>
            <a:ext cx="5520814" cy="19762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927C-BA77-BA28-CE18-05099650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  <a:cs typeface="Times New Roman" panose="02020603050405020304" pitchFamily="18" charset="0"/>
              </a:rPr>
              <a:t>Comparison </a:t>
            </a:r>
            <a:r>
              <a:rPr lang="en-US" b="1" dirty="0">
                <a:latin typeface="Algerian" panose="04020705040A02060702" pitchFamily="82" charset="0"/>
                <a:cs typeface="Times New Roman" panose="02020603050405020304" pitchFamily="18" charset="0"/>
              </a:rPr>
              <a:t>Existing PUF-Based Authentication Schemes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E3137A-418A-D396-4909-BAC7D6E22E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072617"/>
              </p:ext>
            </p:extLst>
          </p:nvPr>
        </p:nvGraphicFramePr>
        <p:xfrm>
          <a:off x="982663" y="2667000"/>
          <a:ext cx="7704136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034">
                  <a:extLst>
                    <a:ext uri="{9D8B030D-6E8A-4147-A177-3AD203B41FA5}">
                      <a16:colId xmlns:a16="http://schemas.microsoft.com/office/drawing/2014/main" val="2081817942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2972259304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829739962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3603791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Mutual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325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LFSR APUF (2023)[4]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5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PUF Key Exchange 2023[2]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203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PA-PUF 2022[3]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08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895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518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86464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Security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9281" y="1514168"/>
            <a:ext cx="7704667" cy="3718732"/>
          </a:xfrm>
        </p:spPr>
        <p:txBody>
          <a:bodyPr>
            <a:norm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Resistant to cloning attacks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Resistant to replay attacks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Resistant to key extraction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Resistant to hardware tampering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risk against ML modeling attacks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80FD-2384-7DB4-D887-EF2280ED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14283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 Proposed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8D3D-3BB9-ADA0-ECE2-F55E79927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458064"/>
            <a:ext cx="7704667" cy="3541751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lightweight FPGA-based Arbiter PUF authentication system for IoT security.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mutual authentication between two IoT devices instead of only single-device authentication.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multi-challenge threshold verification to improve authentication reliability.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 dynamic session key using PUF responses and SHA-256 without storing permanent secret keys.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AES-based secure communication after authentication.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timestamp-based replay attack protection.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area-efficient hardware architecture suitable for resource-constrained IoT devices.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1933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06128"/>
          </a:xfrm>
        </p:spPr>
        <p:txBody>
          <a:bodyPr/>
          <a:lstStyle/>
          <a:p>
            <a:r>
              <a:rPr b="1" dirty="0">
                <a:latin typeface="Algerian" panose="04020705040A02060702" pitchFamily="82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94271"/>
            <a:ext cx="7704667" cy="3905545"/>
          </a:xfrm>
        </p:spPr>
        <p:txBody>
          <a:bodyPr>
            <a:noAutofit/>
          </a:bodyPr>
          <a:lstStyle/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FPGA-based APUF authentication.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mutual authentication.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shared session key.</a:t>
            </a: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AES secure communication.</a:t>
            </a:r>
          </a:p>
          <a:p>
            <a:pPr>
              <a:defRPr sz="1584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 PUF</a:t>
            </a:r>
          </a:p>
          <a:p>
            <a:pPr marL="0" indent="0">
              <a:buNone/>
              <a:defRPr sz="158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57EB-F667-E434-E12D-DD8E65DD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08175"/>
          </a:xfrm>
        </p:spPr>
        <p:txBody>
          <a:bodyPr/>
          <a:lstStyle/>
          <a:p>
            <a:r>
              <a:rPr lang="en-US" b="1" u="sng" dirty="0">
                <a:latin typeface="Algerian" panose="04020705040A02060702" pitchFamily="82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9EEDD-C34A-D2F6-4FBE-B9374A11D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950720"/>
            <a:ext cx="7704667" cy="4049096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S. Roy, D. Das, and B. Sen, “Secure and Lightweight Authentication Protocol Using PUF   for the IoT-Based Wireless Sensor Network,”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Journal on Emerging Technologies in Computing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20, no. 1, Article 3, Nov. 2023.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 V. P.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Yanambaka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P. Mohanty, E.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Kougianos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Puthal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PMsec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Physical Unclonable Function-Based Robust and Lightweight Authentication in the Internet of Medical Things,”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Consumer Electronics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65, no. 3, pp. 388–397, Aug. 2019.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C.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Prabhunath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 and A. P. Shah, “Fredkin Gate-Based Arbiter PUF Design Through Challenge Obfuscation Using Garbage Outputs,”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Integration, the VLSI Journal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106, 2026.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Al-Meer, A., &amp; Al-Kuwari, S. (2022). Physical Unclonable Functions (PUF) for IoT Devices.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arXiv:2205.08587.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131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  <a:defRPr sz="1584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Saurabh Soni</a:t>
            </a:r>
          </a:p>
          <a:p>
            <a:pPr marL="0" indent="0" algn="ctr">
              <a:buNone/>
              <a:defRPr sz="1584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MTech CSE</a:t>
            </a:r>
          </a:p>
          <a:p>
            <a:pPr marL="0" indent="0" algn="ctr">
              <a:buNone/>
              <a:defRPr sz="1584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24CS4131</a:t>
            </a:r>
          </a:p>
          <a:p>
            <a:pPr marL="0" indent="0" algn="ctr">
              <a:buNone/>
              <a:defRPr sz="1584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 Durgapur</a:t>
            </a:r>
          </a:p>
          <a:p>
            <a:pPr algn="ctr">
              <a:defRPr sz="1584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2043</TotalTime>
  <Words>1058</Words>
  <Application>Microsoft Office PowerPoint</Application>
  <PresentationFormat>On-screen Show (4:3)</PresentationFormat>
  <Paragraphs>224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Algerian</vt:lpstr>
      <vt:lpstr>Arial</vt:lpstr>
      <vt:lpstr>Corbel</vt:lpstr>
      <vt:lpstr>Times New Roman</vt:lpstr>
      <vt:lpstr>Parallax</vt:lpstr>
      <vt:lpstr>Arbiter PUF Based Mutual Authentication and Session Key Agreement Scheme for IoT</vt:lpstr>
      <vt:lpstr>Introduction</vt:lpstr>
      <vt:lpstr>Problem Statement</vt:lpstr>
      <vt:lpstr>Literature Review</vt:lpstr>
      <vt:lpstr>Existing  APUF RESULT </vt:lpstr>
      <vt:lpstr>Existing PUF-Based Authentication Schemes</vt:lpstr>
      <vt:lpstr>Objectives</vt:lpstr>
      <vt:lpstr>Why PUF Instead of Classical Cryptography?</vt:lpstr>
      <vt:lpstr>Physical Unclonable Function</vt:lpstr>
      <vt:lpstr>Arbiter PUF Architecture</vt:lpstr>
      <vt:lpstr>CRP Generation Workflow</vt:lpstr>
      <vt:lpstr>PowerPoint Presentation</vt:lpstr>
      <vt:lpstr>Proposed System Architecture</vt:lpstr>
      <vt:lpstr>PowerPoint Presentation</vt:lpstr>
      <vt:lpstr>Mutual Authentication Scheme</vt:lpstr>
      <vt:lpstr>Authentication &amp; Session Key</vt:lpstr>
      <vt:lpstr>Replay Attack Protection</vt:lpstr>
      <vt:lpstr>Secure Communication</vt:lpstr>
      <vt:lpstr>Experimental Results</vt:lpstr>
      <vt:lpstr>comparison    with APUF result                                                                                           </vt:lpstr>
      <vt:lpstr>FPGA Resource Utilization</vt:lpstr>
      <vt:lpstr>Comparison Existing PUF-Based Authentication Schemes</vt:lpstr>
      <vt:lpstr>Security Analysis</vt:lpstr>
      <vt:lpstr> Proposed Work</vt:lpstr>
      <vt:lpstr>Conclusion &amp; Future Work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saurabh soni</cp:lastModifiedBy>
  <cp:revision>20</cp:revision>
  <dcterms:created xsi:type="dcterms:W3CDTF">2013-01-27T09:14:16Z</dcterms:created>
  <dcterms:modified xsi:type="dcterms:W3CDTF">2026-05-11T03:53:42Z</dcterms:modified>
  <cp:category/>
</cp:coreProperties>
</file>